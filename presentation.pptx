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Scaling AMS Through Intelligent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108960"/>
            <a:ext cx="99943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Strengthen delivery, improve margin, and position EPI-USE Africa as the premier AI-enabled SuccessFactors support partner in the region.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9994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Marco Smith  ·  EPI-USE Africa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AMS is where we earn our clients' trust.
In the AI era, that foundation becomes our unfair advantage.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40480"/>
            <a:ext cx="99943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SAP is moving from assistant-led experiences to agentic, workflow-level execution — whether clients are ready or not.
The opportunity is to lead that shift for our clients before the market forces it on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INTRODUCTION &amp; ABOUT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2B46"/>
                </a:solidFill>
              </a:rPr>
              <a:t>Why I am positioned to lead this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4860036" cy="347472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54864" cy="34747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99339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Current 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331720"/>
            <a:ext cx="463143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Managing client relationships, escalations, contracts, and operational excellence across complex AMS environments.
• Driving delivery quality in live, high-pressure settings
• Bridging service, commercials, and client trust
• Translating delivery pain points into product opportunities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828800"/>
            <a:ext cx="4860036" cy="347472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1636" y="1828800"/>
            <a:ext cx="54864" cy="34747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6228" y="199339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Key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6228" y="2331720"/>
            <a:ext cx="463143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Trusted across demanding environments including:
Allan Gray  ·  Discovery  ·  Capitec  ·  Thungela  ·  Mediclinic  ·  O&amp;L  ·  Sanlam  ·  Vitality  ·  Illovo  ·  Shutterfly  ·  SARS  ·  UK Clients
Notable: AGA  ·  UCT  ·  Ricoh  ·  Liberty  ·  MVAF  ·  SA Mint  ·  Engen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TRACK RECORD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B46"/>
                </a:solidFill>
              </a:rPr>
              <a:t>Earned trust across complex, regulated, and demanding environments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3194304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54864" cy="155448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99339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Operational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331720"/>
            <a:ext cx="29657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Consistently high SLA adherence, strong renewal momentum, and meaningful escalation reduction across managed clients.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4464" y="1828800"/>
            <a:ext cx="3194304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74464" y="1828800"/>
            <a:ext cx="54864" cy="155448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9056" y="199339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Commercial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9056" y="2331720"/>
            <a:ext cx="29657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Deep involvement in proposals, complex contract negotiations, and identifying upsell and white-space opportunities.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51648" y="1828800"/>
            <a:ext cx="3194304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51648" y="1828800"/>
            <a:ext cx="54864" cy="155448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6240" y="199339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Leadership in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6240" y="2331720"/>
            <a:ext cx="29657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Already operating across delivery, commercials, relationships, and innovation at Associate Manager level.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566160"/>
            <a:ext cx="3194304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3566160"/>
            <a:ext cx="54864" cy="13716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373075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069080"/>
            <a:ext cx="29657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Earned trust through consistent delivery in a demanding enterprise environment.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4464" y="3566160"/>
            <a:ext cx="3194304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74464" y="3566160"/>
            <a:ext cx="54864" cy="13716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9056" y="373075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Capitec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9056" y="4069080"/>
            <a:ext cx="29657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Demonstrated ability to manage delivery in a complex, regulated environment.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51648" y="3566160"/>
            <a:ext cx="3194304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51648" y="3566160"/>
            <a:ext cx="54864" cy="13716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6240" y="373075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Allan Gray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6240" y="4069080"/>
            <a:ext cx="29657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Proven track record of managing escalations, driving operational excellence, and supporting commercial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</a:rPr>
              <a:t>THE AI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Understanding the yesterday, today, and tomorrow of AI in service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3194304" cy="329184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54864" cy="329184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217627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YESTERDAY — The chat 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514600"/>
            <a:ext cx="296570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AI as a conversational assistant: useful for research, drafting, and troubleshooting, but still largely passive.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4464" y="2011680"/>
            <a:ext cx="3194304" cy="329184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74464" y="2011680"/>
            <a:ext cx="54864" cy="329184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9056" y="217627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TODAY — The agentic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9056" y="2514600"/>
            <a:ext cx="296570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AI as an active participant: reading tickets, logs, and documentation to classify, diagnose, summarise, and recommend next actions.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51648" y="2011680"/>
            <a:ext cx="3194304" cy="329184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51648" y="2011680"/>
            <a:ext cx="54864" cy="329184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6240" y="217627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TOMORROW — Intelligent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6240" y="2514600"/>
            <a:ext cx="296570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AI as an operator within guardrails: testing, validating, correcting, documenting, and escalating only the true edge cases.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6928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The shift is clear: AI is moving from  assistant → actor → operator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</a:rPr>
              <a:t>SAP'S 2026 AI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ecosystem is already moving to a suite-wide agentic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SAP's 1H 2026 SuccessFactors release expands Joule across recruiting, workforce administration, payroll, learning, performance, and talent development.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86000"/>
            <a:ext cx="4860036" cy="164592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286000"/>
            <a:ext cx="54864" cy="1645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45059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Joule's evolution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88920"/>
            <a:ext cx="46314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The direction is no longer experimental. SAP is positioning agentic AI as a suite-level operating capability.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2286000"/>
            <a:ext cx="4860036" cy="164592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1636" y="2286000"/>
            <a:ext cx="54864" cy="1645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6228" y="245059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Scale of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6228" y="2788920"/>
            <a:ext cx="46314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As of Q1 2026, SAP reported more than 40 specialised agents and over 2,400 Joule Skills.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114800"/>
            <a:ext cx="4860036" cy="164592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4114800"/>
            <a:ext cx="54864" cy="1645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427939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Specialised HR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617720"/>
            <a:ext cx="46314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Career and Talent Development, HR Service, Payroll, and People Intelligence use cases are already being framed into real workflows.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4114800"/>
            <a:ext cx="4860036" cy="164592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4114800"/>
            <a:ext cx="54864" cy="1645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6228" y="427939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that means for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6228" y="4617720"/>
            <a:ext cx="46314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SAP is moving now. The only real question is whether our clients will be ready.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760720"/>
            <a:ext cx="9994392" cy="4572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79008"/>
            <a:ext cx="9994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Readiness is becoming the differentiator.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</a:rPr>
              <a:t>THE AMS AI-READINESS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 tools are only as good as the data, permissions, and configuration beneath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 the AI era, AMS becomes the function that makes automation usable, trusted, and scalable.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468880"/>
            <a:ext cx="3194304" cy="32004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468880"/>
            <a:ext cx="54864" cy="32004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263347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971800"/>
            <a:ext cx="296570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Poor data quality, weak job and position structures, outdated time configuration, and misaligned role-based permissions will undermine SAP's new AI capabilities.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4464" y="2468880"/>
            <a:ext cx="3194304" cy="32004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74464" y="2468880"/>
            <a:ext cx="54864" cy="32004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9056" y="263347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AMS mandate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9056" y="2971800"/>
            <a:ext cx="296570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We must proactively prepare client environments now so they can switch Joule on with confidence tomorrow.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51648" y="2468880"/>
            <a:ext cx="3194304" cy="32004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51648" y="2468880"/>
            <a:ext cx="54864" cy="32004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6240" y="263347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Strategic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240" y="2971800"/>
            <a:ext cx="296570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AI does not reduce the importance of AMS. It makes AMS more valuable because readiness becomes the new barrier to adoption.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</a:rPr>
              <a:t>THE HARD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AI is not just a technology story. It is an efficiency story.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4860036" cy="219456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54864" cy="219456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938528"/>
            <a:ext cx="46314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4.87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450592"/>
            <a:ext cx="46314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</a:rPr>
              <a:t>SAVED PER INCIDENT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43200"/>
            <a:ext cx="46314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GenAI summarises tickets, searches knowledge bases, drafts responses, and pulls relevant logs — cutting 4.87 hours per incident.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1828800"/>
            <a:ext cx="4860036" cy="219456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1636" y="1828800"/>
            <a:ext cx="54864" cy="219456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6228" y="1938528"/>
            <a:ext cx="46314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6228" y="2450592"/>
            <a:ext cx="46314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</a:rPr>
              <a:t>FASTER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6228" y="2743200"/>
            <a:ext cx="46314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AI agents auto-classify, prioritise, and route tickets — letting humans focus on diagnosis, not triage.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160520"/>
            <a:ext cx="4860036" cy="219456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4160520"/>
            <a:ext cx="54864" cy="219456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270248"/>
            <a:ext cx="46314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782312"/>
            <a:ext cx="46314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</a:rPr>
              <a:t>TICKET DEFLECTION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5074920"/>
            <a:ext cx="46314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Self-service AI answering password resets, policy questions, and simple requests — reducing human-agent demand by nearly two-thirds.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160520"/>
            <a:ext cx="4860036" cy="219456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160520"/>
            <a:ext cx="54864" cy="219456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6228" y="4270248"/>
            <a:ext cx="46314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20%+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4782312"/>
            <a:ext cx="46314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</a:rPr>
              <a:t>LOWER RESOLUTION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5074920"/>
            <a:ext cx="46314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</a:rPr>
              <a:t>Lower-cost AI agents handling L1-L2 issues, with humans escalating only for complex diagnosis and client interaction.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355080"/>
            <a:ext cx="9994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Intelligent automation changes cost-to-serve, speed-to-resolution, and the competitiveness of the delivery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THE MARGIN &amp; VALUE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2B46"/>
                </a:solidFill>
              </a:rPr>
              <a:t>AMS moves from reactive support to an intelligent service partner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3194304" cy="228600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54864" cy="22860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217627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Lower cost to 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514600"/>
            <a:ext cx="29657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Automation removes thousands of consultant hours spent on repetitive triage and shortens the path to resolution.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4464" y="2011680"/>
            <a:ext cx="3194304" cy="228600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74464" y="2011680"/>
            <a:ext cx="54864" cy="22860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9056" y="217627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Margin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9056" y="2514600"/>
            <a:ext cx="29657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We can deliver the same or better outcomes with leaner, more focused effort and better operating leverage.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51648" y="2011680"/>
            <a:ext cx="3194304" cy="228600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51648" y="2011680"/>
            <a:ext cx="54864" cy="22860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6240" y="217627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Reinvesting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6240" y="2514600"/>
            <a:ext cx="29657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Freed capacity moves into advisory, optimisation, architecture, and higher-value client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9994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This is the evolution: AMS becomes less break-fix, more proactive, more strategic, and more commercially valuable.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JOBFIT: THE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2B46"/>
                </a:solidFill>
              </a:rPr>
              <a:t>This strategy is not theoretical. I have already started building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4860036" cy="1920240"/>
          </a:xfrm>
          <a:prstGeom prst="rect">
            <a:avLst/>
          </a:prstGeom>
          <a:solidFill>
            <a:srgbClr val="0B2B46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54864" cy="192024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99339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JobFit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331720"/>
            <a:ext cx="46314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An AI-powered CV screening SaaS designed for unbiased, compliant, and rapid screening of applicants.
• Built in record time using AI
• Delivers value through AI at its core
• Designed as recurring SaaS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828800"/>
            <a:ext cx="4860036" cy="1920240"/>
          </a:xfrm>
          <a:prstGeom prst="rect">
            <a:avLst/>
          </a:prstGeom>
          <a:solidFill>
            <a:srgbClr val="0B2B46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1636" y="1828800"/>
            <a:ext cx="54864" cy="192024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6228" y="199339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6228" y="2331720"/>
            <a:ext cx="46314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JobFit proves a repeatable model: real client problem + rapid AI build + SaaS packaging = scalable revenue with minimal ongoing consultant involvement.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931920"/>
            <a:ext cx="3194304" cy="146304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3931920"/>
            <a:ext cx="54864" cy="146304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09651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Prototype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434840"/>
            <a:ext cx="29657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4 days from client ask to working demo — rapid iteration proves the model works.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74464" y="3931920"/>
            <a:ext cx="3194304" cy="146304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74464" y="3931920"/>
            <a:ext cx="54864" cy="146304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9056" y="409651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GenAI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9056" y="4434840"/>
            <a:ext cx="29657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Interprets CV data regardless of format — extracting structured fields from any document.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51648" y="3931920"/>
            <a:ext cx="3194304" cy="146304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51648" y="3931920"/>
            <a:ext cx="54864" cy="146304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6240" y="409651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High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6240" y="4434840"/>
            <a:ext cx="29657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Processes hundreds of applications per role without proportionally increasing effort.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When we combine delivery insight with rapid prototyping, we can create funded, repeatable solutions.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OTHER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2B46"/>
                </a:solidFill>
              </a:rPr>
              <a:t>Beyond JobFit: the AI-assisted opportunities I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3194304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54864" cy="1645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99339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System Health Check &amp;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331720"/>
            <a:ext cx="29657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Proactive review of admin alerts and check tool errors before they become incidents or escalations.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4464" y="1828800"/>
            <a:ext cx="3194304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74464" y="1828800"/>
            <a:ext cx="54864" cy="1645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9056" y="199339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Data Integrity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9056" y="2331720"/>
            <a:ext cx="29657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Automated validation of org structure, position data, employee and employment information across the instance.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51648" y="1828800"/>
            <a:ext cx="3194304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51648" y="1828800"/>
            <a:ext cx="54864" cy="1645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6240" y="199339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SuccessFactors Benefits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6240" y="2331720"/>
            <a:ext cx="29657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Medical aid and life insurance package integration with South African vendors directly in SuccessFactors.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657600"/>
            <a:ext cx="3194304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3657600"/>
            <a:ext cx="54864" cy="1645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382219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Business Rule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160520"/>
            <a:ext cx="29657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Review of errors, inconsistencies, and old config that accumulate over time in Workflow, RBPs, and Pay Structures.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4464" y="3657600"/>
            <a:ext cx="3194304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74464" y="3657600"/>
            <a:ext cx="54864" cy="1645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9056" y="382219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Unit Testing &amp; Regression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9056" y="4160520"/>
            <a:ext cx="29657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Browser-use agent for performing repeatable regression testing after releases and configuration changes.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51648" y="3657600"/>
            <a:ext cx="3194304" cy="1645920"/>
          </a:xfrm>
          <a:prstGeom prst="rect">
            <a:avLst/>
          </a:prstGeom>
          <a:solidFill>
            <a:srgbClr val="F8FAFC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51648" y="3657600"/>
            <a:ext cx="54864" cy="1645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6240" y="3822192"/>
            <a:ext cx="2965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Support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6240" y="4160520"/>
            <a:ext cx="29657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Lower tier support agent for resolving simple user issues or questions, working alongside Joule.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669280"/>
            <a:ext cx="9994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Each follows the Prototype Factory model: client problem → prototype → validate → fund → productise →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</a:rPr>
              <a:t>THE PROTOTYPE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 repeatable engine for funded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Identify an AMS client problem, build a prototype in one week, validate early, secure buy-in, then productise and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" y="2743200"/>
            <a:ext cx="1371600" cy="502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6876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2636" y="2743200"/>
            <a:ext cx="1371600" cy="502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2636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4236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9996" y="2743200"/>
            <a:ext cx="1371600" cy="502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9996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1596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7356" y="2743200"/>
            <a:ext cx="1371600" cy="502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7356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8956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4716" y="2743200"/>
            <a:ext cx="1371600" cy="502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4716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Productise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6316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BD5E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52076" y="2743200"/>
            <a:ext cx="1371600" cy="50292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2076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840480"/>
            <a:ext cx="4860036" cy="13716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3840480"/>
            <a:ext cx="54864" cy="13716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" y="400507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343400"/>
            <a:ext cx="46314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Client validation happens before major development investment.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</a:rPr>
              <a:t>THE STRATEGIC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AMS is the flywheel that powers the whole model</a:t>
            </a:r>
          </a:p>
        </p:txBody>
      </p:sp>
      <p:sp>
        <p:nvSpPr>
          <p:cNvPr id="4" name="Oval 3"/>
          <p:cNvSpPr/>
          <p:nvPr/>
        </p:nvSpPr>
        <p:spPr>
          <a:xfrm>
            <a:off x="5591556" y="2057400"/>
            <a:ext cx="1005840" cy="1005840"/>
          </a:xfrm>
          <a:prstGeom prst="ellipse">
            <a:avLst/>
          </a:prstGeom>
          <a:solidFill>
            <a:srgbClr val="0B2B46"/>
          </a:solidFill>
          <a:ln w="2540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91556" y="22585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91556" y="2560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Client insight</a:t>
            </a:r>
          </a:p>
        </p:txBody>
      </p:sp>
      <p:sp>
        <p:nvSpPr>
          <p:cNvPr id="7" name="Oval 6"/>
          <p:cNvSpPr/>
          <p:nvPr/>
        </p:nvSpPr>
        <p:spPr>
          <a:xfrm>
            <a:off x="6541828" y="3703320"/>
            <a:ext cx="1005840" cy="1005840"/>
          </a:xfrm>
          <a:prstGeom prst="ellipse">
            <a:avLst/>
          </a:prstGeom>
          <a:solidFill>
            <a:srgbClr val="0B2B46"/>
          </a:solidFill>
          <a:ln w="2540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1828" y="39044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1828" y="4206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Co-create</a:t>
            </a:r>
          </a:p>
        </p:txBody>
      </p:sp>
      <p:sp>
        <p:nvSpPr>
          <p:cNvPr id="10" name="Oval 9"/>
          <p:cNvSpPr/>
          <p:nvPr/>
        </p:nvSpPr>
        <p:spPr>
          <a:xfrm>
            <a:off x="4641283" y="3703320"/>
            <a:ext cx="1005840" cy="1005840"/>
          </a:xfrm>
          <a:prstGeom prst="ellipse">
            <a:avLst/>
          </a:prstGeom>
          <a:solidFill>
            <a:srgbClr val="0B2B46"/>
          </a:solidFill>
          <a:ln w="2540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1283" y="39044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1283" y="4206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Distribute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956" y="3429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AMS
FLYWHEEL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3276" y="1828800"/>
            <a:ext cx="3168396" cy="128016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3276" y="1828800"/>
            <a:ext cx="54864" cy="128016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7868" y="1993392"/>
            <a:ext cx="2939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Listen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7868" y="2331720"/>
            <a:ext cx="29397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AMS relationships surface real client pain points first-hand — earlier and more honestly than any market research.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3276" y="3246120"/>
            <a:ext cx="3168396" cy="128016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23276" y="3246120"/>
            <a:ext cx="54864" cy="128016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7868" y="3410712"/>
            <a:ext cx="2939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7868" y="3749040"/>
            <a:ext cx="29397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We co-create solutions with those clients using the Prototype Factory — validating real problems before any major investment.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3276" y="4663440"/>
            <a:ext cx="3168396" cy="128016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3276" y="4663440"/>
            <a:ext cx="54864" cy="128016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7868" y="4828032"/>
            <a:ext cx="2939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7868" y="5166360"/>
            <a:ext cx="29397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The AMS network becomes our lowest-friction distribution channel — existing trust lets us sell across the entire portfolio.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309360"/>
            <a:ext cx="9994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Each cycle deepens client trust, sharpens insight, and widens the competitive moat. No competitor without an AMS network can replicate this.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</a:rPr>
              <a:t>THE WHITE SPACE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AMS is our lowest-friction distribution channel for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4860036" cy="18288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54864" cy="18288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217627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Module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514600"/>
            <a:ext cx="46314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There is major white space across existing clients in Performance &amp; Goals, Compensation, Learning, and Work Zone.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2011680"/>
            <a:ext cx="4860036" cy="18288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1636" y="2011680"/>
            <a:ext cx="54864" cy="18288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6228" y="217627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captive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6228" y="2514600"/>
            <a:ext cx="46314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Every existing AMS client is already a warm lead for new AI-enabled solutions.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023360"/>
            <a:ext cx="4860036" cy="18288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4023360"/>
            <a:ext cx="54864" cy="18288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18795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Our unfair advantage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526280"/>
            <a:ext cx="46314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We already own the relationships, understand the pain points, and see the patterns earlier than anyone else.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4023360"/>
            <a:ext cx="4860036" cy="18288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4023360"/>
            <a:ext cx="54864" cy="18288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6228" y="418795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Market positioning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6228" y="4526280"/>
            <a:ext cx="46314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This is how we secure first-mover advantage as the premier AI-enabled SuccessFactors support partner in the region.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</a:rPr>
              <a:t>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risks are real, but they are manageable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4860036" cy="18288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54864" cy="18288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217627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Capacity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514600"/>
            <a:ext cx="46314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Cross-training and targeted hiring ensure AMS delivery quality never dips while we innovate.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2011680"/>
            <a:ext cx="4860036" cy="18288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1636" y="2011680"/>
            <a:ext cx="54864" cy="18288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6228" y="217627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privacy (POPIA)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6228" y="2514600"/>
            <a:ext cx="46314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Responsible-by-design controls must be built into every prototype from day one, especially for high-compliance clients.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023360"/>
            <a:ext cx="4860036" cy="18288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4023360"/>
            <a:ext cx="54864" cy="18288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18795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SaaS adoption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526280"/>
            <a:ext cx="46314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Pilot programmes and internal client champions can create early traction before wider roll-out.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4023360"/>
            <a:ext cx="4860036" cy="1828800"/>
          </a:xfrm>
          <a:prstGeom prst="rect">
            <a:avLst/>
          </a:prstGeom>
          <a:solidFill>
            <a:srgbClr val="0D2235"/>
          </a:solidFill>
          <a:ln w="19050">
            <a:solidFill>
              <a:srgbClr val="D3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4023360"/>
            <a:ext cx="54864" cy="1828800"/>
          </a:xfrm>
          <a:prstGeom prst="rect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6228" y="4187952"/>
            <a:ext cx="46314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Consultant resistance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6228" y="4526280"/>
            <a:ext cx="46314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Clear upskilling paths position AI as a career enabler and force multiplier, not a replacement.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94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B2B46"/>
                </a:solidFill>
              </a:rPr>
              <a:t>What I need to scale this properly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2011680"/>
            <a:ext cx="457200" cy="457200"/>
          </a:xfrm>
          <a:prstGeom prst="ellipse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920240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Guidance: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40280"/>
            <a:ext cx="9400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 seat at the table in leadership and executive client discussions so I can hear challenges first-hand and identify prototyping opportunities.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926080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Assistance: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246120"/>
            <a:ext cx="9400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Leadership support in positioning and selling these innovation solutions to existing client executives.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023360"/>
            <a:ext cx="457200" cy="457200"/>
          </a:xfrm>
          <a:prstGeom prst="ellipse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931920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Endorsement: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51960"/>
            <a:ext cx="9400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Formal backing for the Prototype Factory as an official strategic initiative.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5029200"/>
            <a:ext cx="457200" cy="457200"/>
          </a:xfrm>
          <a:prstGeom prst="ellipse">
            <a:avLst/>
          </a:prstGeom>
          <a:solidFill>
            <a:srgbClr val="D3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937760"/>
            <a:ext cx="9400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B46"/>
                </a:solidFill>
              </a:rPr>
              <a:t>Resourcing: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257800"/>
            <a:ext cx="9400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Approval to cross-train, dedicate capacity to product development, and hire where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943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Back a model that is </a:t>
            </a:r>
            <a:r>
              <a:rPr sz="3200" b="1">
                <a:solidFill>
                  <a:srgbClr val="D32027"/>
                </a:solidFill>
              </a:rPr>
              <a:t>already running</a:t>
            </a:r>
          </a:p>
          <a:p>
            <a:pPr algn="l"/>
            <a:r>
              <a:rPr sz="3200" b="1">
                <a:solidFill>
                  <a:srgbClr val="FFFFFF"/>
                </a:solidFill>
              </a:rPr>
              <a:t>, scale it across the portfolio, and let me lead the team that delivers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AMS is the firm's closest, most consistent touchpoint with clients. That proximity is our best source of insight, our best route to adoption, and our best platform for AI-led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